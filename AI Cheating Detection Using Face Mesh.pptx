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6733" y="2215913"/>
            <a:ext cx="8082597" cy="71167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94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chemeClr val="tx1">
                    <a:lumMod val="95000"/>
                    <a:lumOff val="5000"/>
                  </a:schemeClr>
                </a:solidFill>
              </a:rPr>
              <a:t>AI Cheating Detection Using Face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3370266"/>
            <a:ext cx="4422429" cy="6032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0"/>
              </a:spcAft>
            </a:pPr>
            <a:r>
              <a:rPr sz="32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Final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4256448"/>
            <a:ext cx="8396658" cy="7263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Prepared by: Zahraa Mohammed Sabah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578" y="4781545"/>
            <a:ext cx="4331570" cy="7263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Class: GA – Morning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27039"/>
            <a:ext cx="12191695" cy="1143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286725"/>
            <a:ext cx="2543902" cy="66479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3600" b="1" dirty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8299" y="3633330"/>
            <a:ext cx="5429114" cy="284797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CD62C01-A1CE-EE59-ADF6-15B206D33081}"/>
              </a:ext>
            </a:extLst>
          </p:cNvPr>
          <p:cNvSpPr txBox="1">
            <a:spLocks/>
          </p:cNvSpPr>
          <p:nvPr/>
        </p:nvSpPr>
        <p:spPr>
          <a:xfrm>
            <a:off x="457200" y="1238247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CEA69A3-77DE-E064-993E-3066929C9DCE}"/>
              </a:ext>
            </a:extLst>
          </p:cNvPr>
          <p:cNvSpPr txBox="1">
            <a:spLocks/>
          </p:cNvSpPr>
          <p:nvPr/>
        </p:nvSpPr>
        <p:spPr>
          <a:xfrm>
            <a:off x="272998" y="1596794"/>
            <a:ext cx="10761407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• This project detects cheating during online exams.</a:t>
            </a:r>
          </a:p>
          <a:p>
            <a:pPr marL="0" indent="0">
              <a:buFont typeface="Arial"/>
              <a:buNone/>
            </a:pPr>
            <a:r>
              <a:rPr lang="en-US" dirty="0"/>
              <a:t>• Uses </a:t>
            </a:r>
            <a:r>
              <a:rPr lang="en-US" dirty="0" err="1"/>
              <a:t>MediaPipe</a:t>
            </a:r>
            <a:r>
              <a:rPr lang="en-US" dirty="0"/>
              <a:t> Face Mesh + Logistic Regression.</a:t>
            </a:r>
          </a:p>
          <a:p>
            <a:pPr marL="0" indent="0">
              <a:buFont typeface="Arial"/>
              <a:buNone/>
            </a:pPr>
            <a:r>
              <a:rPr lang="en-US" dirty="0"/>
              <a:t>• Detects when a student looks away from the screen.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255947"/>
            <a:ext cx="2173993" cy="7263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4000" b="1" dirty="0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2163" y="3429000"/>
            <a:ext cx="5429114" cy="305752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80E39AE-FABD-9267-A777-CF8344293938}"/>
              </a:ext>
            </a:extLst>
          </p:cNvPr>
          <p:cNvSpPr txBox="1">
            <a:spLocks/>
          </p:cNvSpPr>
          <p:nvPr/>
        </p:nvSpPr>
        <p:spPr>
          <a:xfrm>
            <a:off x="250723" y="982300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94AF730-0F88-7AB7-4FF9-57733EB3590E}"/>
              </a:ext>
            </a:extLst>
          </p:cNvPr>
          <p:cNvSpPr txBox="1">
            <a:spLocks/>
          </p:cNvSpPr>
          <p:nvPr/>
        </p:nvSpPr>
        <p:spPr>
          <a:xfrm>
            <a:off x="250723" y="1398947"/>
            <a:ext cx="9404554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• Build a lightweight real‑time monitoring system.</a:t>
            </a:r>
          </a:p>
          <a:p>
            <a:pPr marL="0" indent="0">
              <a:buFont typeface="Arial"/>
              <a:buNone/>
            </a:pPr>
            <a:r>
              <a:rPr lang="en-US" dirty="0"/>
              <a:t>• Detect suspicious head movement.</a:t>
            </a:r>
          </a:p>
          <a:p>
            <a:pPr marL="0" indent="0">
              <a:buFont typeface="Arial"/>
              <a:buNone/>
            </a:pPr>
            <a:r>
              <a:rPr lang="en-US" dirty="0"/>
              <a:t>• Avoid complex deep‑learning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255947"/>
            <a:ext cx="3021596" cy="7263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4000" b="1" dirty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86052" y="2365591"/>
            <a:ext cx="5429114" cy="29718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226EF9-2031-3440-B820-E2FA44D06BCE}"/>
              </a:ext>
            </a:extLst>
          </p:cNvPr>
          <p:cNvSpPr txBox="1"/>
          <p:nvPr/>
        </p:nvSpPr>
        <p:spPr>
          <a:xfrm>
            <a:off x="240892" y="2228848"/>
            <a:ext cx="614516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/>
              <a:t>• </a:t>
            </a:r>
            <a:r>
              <a:rPr lang="en-US" sz="2800" dirty="0" err="1"/>
              <a:t>MediaPipe</a:t>
            </a:r>
            <a:r>
              <a:rPr lang="en-US" sz="2800" dirty="0"/>
              <a:t> Face Mesh provides 468 facial landmarks.</a:t>
            </a:r>
          </a:p>
          <a:p>
            <a:pPr marL="0" indent="0">
              <a:buNone/>
            </a:pPr>
            <a:r>
              <a:rPr lang="en-US" sz="2800" dirty="0"/>
              <a:t>• Used 3 points: Left Eye (33), Right Eye (263), Nose (1).</a:t>
            </a:r>
          </a:p>
          <a:p>
            <a:pPr marL="0" indent="0">
              <a:buNone/>
            </a:pPr>
            <a:r>
              <a:rPr lang="en-US" sz="2800" dirty="0"/>
              <a:t>• Calculate ratios to detect head movement.</a:t>
            </a:r>
          </a:p>
          <a:p>
            <a:pPr marL="0" indent="0">
              <a:buNone/>
            </a:pPr>
            <a:r>
              <a:rPr lang="en-US" sz="2800" dirty="0"/>
              <a:t>• Logistic Regression for classification.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255947"/>
            <a:ext cx="4075539" cy="7263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4000" b="1" dirty="0">
                <a:solidFill>
                  <a:srgbClr val="FFFFFF"/>
                </a:solidFill>
              </a:rPr>
              <a:t>Dataset &amp;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600" y="3161846"/>
            <a:ext cx="2362140" cy="95249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8600" y="3161847"/>
            <a:ext cx="1885902" cy="95249"/>
          </a:xfrm>
          <a:prstGeom prst="roundRect">
            <a:avLst>
              <a:gd name="adj" fmla="val 10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433" y="3789470"/>
            <a:ext cx="5034116" cy="72853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2535"/>
              </a:lnSpc>
            </a:pPr>
            <a:r>
              <a:rPr lang="en-GB" sz="2400" dirty="0"/>
              <a:t>• Extreme ratios = looking sideways.</a:t>
            </a:r>
          </a:p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endParaRPr sz="1674" b="0" dirty="0">
              <a:solidFill>
                <a:srgbClr val="001E3C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8600" y="4250850"/>
            <a:ext cx="3057448" cy="95249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8600" y="4249329"/>
            <a:ext cx="914377" cy="95249"/>
          </a:xfrm>
          <a:prstGeom prst="roundRect">
            <a:avLst>
              <a:gd name="adj" fmla="val 100000"/>
            </a:avLst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2070" y="5301223"/>
            <a:ext cx="4524261" cy="41203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674" b="1" dirty="0">
                <a:solidFill>
                  <a:srgbClr val="0277BD"/>
                </a:solidFill>
              </a:rPr>
              <a:t>Accuracy:</a:t>
            </a:r>
            <a:r>
              <a:rPr sz="1674" b="0" dirty="0">
                <a:solidFill>
                  <a:srgbClr val="001E3C"/>
                </a:solidFill>
              </a:rPr>
              <a:t>   </a:t>
            </a:r>
            <a:r>
              <a:rPr lang="en-US" sz="1794" b="1" dirty="0">
                <a:solidFill>
                  <a:srgbClr val="4CAF50"/>
                </a:solidFill>
              </a:rPr>
              <a:t>57</a:t>
            </a:r>
            <a:r>
              <a:rPr sz="1794" b="1" dirty="0">
                <a:solidFill>
                  <a:srgbClr val="4CAF50"/>
                </a:solidFill>
              </a:rPr>
              <a:t>%</a:t>
            </a:r>
            <a:r>
              <a:rPr sz="1674" b="0" dirty="0">
                <a:solidFill>
                  <a:srgbClr val="001E3C"/>
                </a:solidFill>
              </a:rPr>
              <a:t> 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06072" y="5475799"/>
            <a:ext cx="2600259" cy="11430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707466" y="5475799"/>
            <a:ext cx="1298735" cy="114300"/>
          </a:xfrm>
          <a:prstGeom prst="roundRect">
            <a:avLst>
              <a:gd name="adj" fmla="val 10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5847" y="2113935"/>
            <a:ext cx="5429114" cy="347616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126976-3217-32D7-3440-1ACE1FEF6A61}"/>
              </a:ext>
            </a:extLst>
          </p:cNvPr>
          <p:cNvSpPr txBox="1"/>
          <p:nvPr/>
        </p:nvSpPr>
        <p:spPr>
          <a:xfrm>
            <a:off x="398500" y="253039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/>
              <a:t>• Ratios close to 1.0 = normal</a:t>
            </a:r>
            <a:r>
              <a:rPr lang="en-US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DDB1ED-A34B-D24F-907F-844350D29390}"/>
              </a:ext>
            </a:extLst>
          </p:cNvPr>
          <p:cNvSpPr txBox="1"/>
          <p:nvPr/>
        </p:nvSpPr>
        <p:spPr>
          <a:xfrm>
            <a:off x="466433" y="489097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• Model accuracy printed during execution.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C3F579-4272-32BF-B950-DA3468741B18}"/>
              </a:ext>
            </a:extLst>
          </p:cNvPr>
          <p:cNvSpPr txBox="1"/>
          <p:nvPr/>
        </p:nvSpPr>
        <p:spPr>
          <a:xfrm>
            <a:off x="398500" y="181274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• Small custom dataset created manually.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317503"/>
            <a:ext cx="4204100" cy="6032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3200" b="1" dirty="0">
                <a:solidFill>
                  <a:srgbClr val="FFFFFF"/>
                </a:solidFill>
              </a:rPr>
              <a:t>System Implementation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4322" y="1381003"/>
            <a:ext cx="5761703" cy="375592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8E0C2B-C206-6033-6346-BDDCCC35621A}"/>
              </a:ext>
            </a:extLst>
          </p:cNvPr>
          <p:cNvSpPr txBox="1"/>
          <p:nvPr/>
        </p:nvSpPr>
        <p:spPr>
          <a:xfrm>
            <a:off x="173068" y="2351023"/>
            <a:ext cx="620806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/>
              <a:t>• OpenCV captures video.</a:t>
            </a:r>
          </a:p>
          <a:p>
            <a:pPr marL="0" indent="0">
              <a:buNone/>
            </a:pPr>
            <a:r>
              <a:rPr lang="en-US" sz="2800" dirty="0"/>
              <a:t>• </a:t>
            </a:r>
            <a:r>
              <a:rPr lang="en-US" sz="2800" dirty="0" err="1"/>
              <a:t>MediaPipe</a:t>
            </a:r>
            <a:r>
              <a:rPr lang="en-US" sz="2800" dirty="0"/>
              <a:t> extracts face landmarks.</a:t>
            </a:r>
          </a:p>
          <a:p>
            <a:pPr marL="0" indent="0">
              <a:buNone/>
            </a:pPr>
            <a:r>
              <a:rPr lang="en-US" sz="2800" dirty="0"/>
              <a:t>• Real‑time ratio calculation.</a:t>
            </a:r>
          </a:p>
          <a:p>
            <a:pPr marL="0" indent="0">
              <a:buNone/>
            </a:pPr>
            <a:r>
              <a:rPr lang="en-US" sz="2800" dirty="0"/>
              <a:t>• Alerts appear when cheating is detected.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194392"/>
            <a:ext cx="1978940" cy="84946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4800" b="1" dirty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3829CF-65A3-C25E-720F-C4185049ED09}"/>
              </a:ext>
            </a:extLst>
          </p:cNvPr>
          <p:cNvSpPr txBox="1"/>
          <p:nvPr/>
        </p:nvSpPr>
        <p:spPr>
          <a:xfrm>
            <a:off x="245806" y="1337392"/>
            <a:ext cx="804278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dirty="0"/>
              <a:t>• Detects when student looks away from the screen.</a:t>
            </a:r>
          </a:p>
          <a:p>
            <a:pPr marL="0" indent="0">
              <a:buNone/>
            </a:pPr>
            <a:r>
              <a:rPr lang="en-US" sz="3200" dirty="0"/>
              <a:t>• Accuracy measured on training data.</a:t>
            </a:r>
          </a:p>
          <a:p>
            <a:pPr marL="0" indent="0">
              <a:buNone/>
            </a:pPr>
            <a:r>
              <a:rPr lang="en-US" sz="3200" dirty="0"/>
              <a:t>• Face mesh and dots displayed in real time.</a:t>
            </a:r>
          </a:p>
        </p:txBody>
      </p:sp>
      <p:pic>
        <p:nvPicPr>
          <p:cNvPr id="18" name="Picture 1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8F07CE1-210F-E5B0-1786-3296ED12D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303" y="3399494"/>
            <a:ext cx="6882580" cy="32852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225170"/>
            <a:ext cx="2696507" cy="7879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4400" b="1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1653" y="3328527"/>
            <a:ext cx="5429114" cy="283845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2DC626-6D92-4181-C248-25D1A8673685}"/>
              </a:ext>
            </a:extLst>
          </p:cNvPr>
          <p:cNvSpPr txBox="1"/>
          <p:nvPr/>
        </p:nvSpPr>
        <p:spPr>
          <a:xfrm>
            <a:off x="324462" y="1858748"/>
            <a:ext cx="577153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/>
              <a:t>• Simple ML model can detect cheating.</a:t>
            </a:r>
          </a:p>
          <a:p>
            <a:pPr marL="0" indent="0">
              <a:buNone/>
            </a:pPr>
            <a:r>
              <a:rPr lang="en-US" sz="2800" dirty="0"/>
              <a:t>• Fast, efficient, and works in real time.</a:t>
            </a:r>
          </a:p>
          <a:p>
            <a:pPr marL="0" indent="0">
              <a:buNone/>
            </a:pPr>
            <a:r>
              <a:rPr lang="en-US" sz="2800" dirty="0"/>
              <a:t>• Suitable for exam monitoring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255947"/>
            <a:ext cx="4767011" cy="7263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4000" b="1" dirty="0">
                <a:solidFill>
                  <a:srgbClr val="FFFFFF"/>
                </a:solidFill>
              </a:rPr>
              <a:t>Future Improvements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3ECBC7-90FD-AF48-2B04-59DDC7D04C2D}"/>
              </a:ext>
            </a:extLst>
          </p:cNvPr>
          <p:cNvSpPr txBox="1"/>
          <p:nvPr/>
        </p:nvSpPr>
        <p:spPr>
          <a:xfrm>
            <a:off x="216308" y="2418339"/>
            <a:ext cx="703989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dirty="0"/>
              <a:t>• Add blink detection or phone detection.</a:t>
            </a:r>
          </a:p>
          <a:p>
            <a:pPr marL="0" indent="0">
              <a:buNone/>
            </a:pPr>
            <a:r>
              <a:rPr lang="en-US" sz="3200" dirty="0"/>
              <a:t>• Use more landmarks for better accuracy.</a:t>
            </a:r>
          </a:p>
          <a:p>
            <a:pPr marL="0" indent="0">
              <a:buNone/>
            </a:pPr>
            <a:r>
              <a:rPr lang="en-US" sz="3200" dirty="0"/>
              <a:t>• Upgrade to deep learning.</a:t>
            </a:r>
          </a:p>
          <a:p>
            <a:pPr marL="0" indent="0">
              <a:buNone/>
            </a:pPr>
            <a:r>
              <a:rPr lang="en-US" sz="3200" dirty="0"/>
              <a:t>• Collect a larger dataset.</a:t>
            </a:r>
          </a:p>
        </p:txBody>
      </p:sp>
      <p:pic>
        <p:nvPicPr>
          <p:cNvPr id="30" name="Picture 29" descr="A person standing next to a screen&#10;&#10;AI-generated content may be incorrect.">
            <a:extLst>
              <a:ext uri="{FF2B5EF4-FFF2-40B4-BE49-F238E27FC236}">
                <a16:creationId xmlns:a16="http://schemas.microsoft.com/office/drawing/2014/main" id="{123D5AEE-2BA0-FE16-FC50-68208D1E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864" y="1424775"/>
            <a:ext cx="5968181" cy="50341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267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 NARJS</dc:creator>
  <cp:keywords/>
  <dc:description>generated using python-pptx</dc:description>
  <cp:lastModifiedBy>dkmwk dwd</cp:lastModifiedBy>
  <cp:revision>2</cp:revision>
  <dcterms:created xsi:type="dcterms:W3CDTF">2013-01-27T09:14:16Z</dcterms:created>
  <dcterms:modified xsi:type="dcterms:W3CDTF">2025-12-10T19:26:39Z</dcterms:modified>
  <cp:category/>
</cp:coreProperties>
</file>